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fabric/iq/overview" TargetMode="External"/><Relationship Id="rId2" Type="http://schemas.openxmlformats.org/officeDocument/2006/relationships/hyperlink" Target="https://learn.microsoft.com/en-us/fabric/iq/ontology/overview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learn.microsoft.com/en-us/fabric/iq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Microsoft Fabric IQ – Ontology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8686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626E82"/>
                </a:solidFill>
                <a:latin typeface="Aptos"/>
              </a:rPr>
              <a:t>Introduction to ontology: what it is, core concepts, and how it enables trusted AI and consistent understanding across the enterprise.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2249424"/>
            <a:ext cx="4114800" cy="448056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406640" y="4434840"/>
            <a:ext cx="3383280" cy="685800"/>
          </a:xfrm>
          <a:prstGeom prst="round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89520" y="4608576"/>
            <a:ext cx="3017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Aptos"/>
              </a:rPr>
              <a:t>Copilot   •   OneLake   •   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60920" y="2788920"/>
            <a:ext cx="566928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498080" y="2907792"/>
            <a:ext cx="274320" cy="274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88352" y="3246120"/>
            <a:ext cx="512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8"/>
                </a:solidFill>
                <a:latin typeface="Aptos"/>
              </a:rPr>
              <a:t>Semantic
Models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9288" y="2788920"/>
            <a:ext cx="566928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56448" y="2907792"/>
            <a:ext cx="274320" cy="274320"/>
          </a:xfrm>
          <a:prstGeom prst="ellipse">
            <a:avLst/>
          </a:prstGeom>
          <a:solidFill>
            <a:srgbClr val="31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0" y="3246120"/>
            <a:ext cx="512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8"/>
                </a:solidFill>
                <a:latin typeface="Aptos"/>
              </a:rPr>
              <a:t>Ontology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77656" y="2788920"/>
            <a:ext cx="566928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14816" y="2907792"/>
            <a:ext cx="274320" cy="274320"/>
          </a:xfrm>
          <a:prstGeom prst="ellipse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705088" y="3246120"/>
            <a:ext cx="512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8"/>
                </a:solidFill>
                <a:latin typeface="Aptos"/>
              </a:rPr>
              <a:t>Graph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6024" y="2788920"/>
            <a:ext cx="566928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73184" y="2907792"/>
            <a:ext cx="274320" cy="274320"/>
          </a:xfrm>
          <a:prstGeom prst="ellipse">
            <a:avLst/>
          </a:prstGeom>
          <a:solidFill>
            <a:srgbClr val="92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363456" y="3246120"/>
            <a:ext cx="512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8"/>
                </a:solidFill>
                <a:latin typeface="Aptos"/>
              </a:rPr>
              <a:t>Data
Agents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94392" y="2788920"/>
            <a:ext cx="566928" cy="1152144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0131552" y="2907792"/>
            <a:ext cx="274320" cy="274320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21824" y="3246120"/>
            <a:ext cx="512064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E1F38"/>
                </a:solidFill>
                <a:latin typeface="Aptos"/>
              </a:rPr>
              <a:t>Ops
Agents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090672"/>
            <a:ext cx="5257800" cy="187451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60" y="3200400"/>
            <a:ext cx="4983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What is Ontology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639312"/>
            <a:ext cx="4983480" cy="12161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02B3C"/>
                </a:solidFill>
                <a:latin typeface="Aptos"/>
              </a:rPr>
              <a:t>Ontology adds a business context layer above raw data—so teams and AI can reason over customers, orders, assets, processes, and relationships instead of isolated tables and columns.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2A6"/>
                </a:solidFill>
                <a:latin typeface="Aptos"/>
              </a:rPr>
              <a:t>KEY HIGHLIGHTS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828800"/>
            <a:ext cx="28803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" y="1938528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Shared business language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2377440"/>
            <a:ext cx="26060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02B3C"/>
                </a:solidFill>
                <a:latin typeface="Aptos"/>
              </a:rPr>
              <a:t>Ontology defines enterprise concepts, properties, relationships, and constraints so teams and tools operate from the same vocabulary.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828800"/>
            <a:ext cx="28803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33672" y="1938528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E1F38"/>
                </a:solidFill>
                <a:latin typeface="Aptos"/>
              </a:rPr>
              <a:t>AI grounded in business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33672" y="2377440"/>
            <a:ext cx="26060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02B3C"/>
                </a:solidFill>
                <a:latin typeface="Aptos"/>
              </a:rPr>
              <a:t>Fabric IQ uses ontology to ground AI and natural-language experiences in governed business meaning rather than disconnected schemas.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52360" y="1828800"/>
            <a:ext cx="2880360" cy="20116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16952" y="1938528"/>
            <a:ext cx="2606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Faster insight-to-action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16952" y="2377440"/>
            <a:ext cx="2606040" cy="1353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02B3C"/>
                </a:solidFill>
                <a:latin typeface="Aptos"/>
              </a:rPr>
              <a:t>By connecting concepts to live </a:t>
            </a:r>
            <a:r>
              <a:rPr sz="1300" b="0" dirty="0" err="1">
                <a:solidFill>
                  <a:srgbClr val="202B3C"/>
                </a:solidFill>
                <a:latin typeface="Aptos"/>
              </a:rPr>
              <a:t>OneLake</a:t>
            </a:r>
            <a:r>
              <a:rPr sz="1300" b="0" dirty="0">
                <a:solidFill>
                  <a:srgbClr val="202B3C"/>
                </a:solidFill>
                <a:latin typeface="Aptos"/>
              </a:rPr>
              <a:t> data, ontology helps move from fragmented analysis to decision-ready reasoning across domains.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4617720"/>
            <a:ext cx="10744200" cy="960120"/>
          </a:xfrm>
          <a:prstGeom prst="round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809744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FFFFF"/>
                </a:solidFill>
                <a:latin typeface="Aptos"/>
              </a:rPr>
              <a:t>Fabric IQ helps shift the conversation from "where is the data?" to "what does the business mean, what is happening now, and what should we do next?"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Why ontology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2A6"/>
                </a:solidFill>
                <a:latin typeface="Aptos"/>
              </a:rPr>
              <a:t>THE PROBLEM IT SOLVES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645920"/>
            <a:ext cx="3474720" cy="4206240"/>
          </a:xfrm>
          <a:prstGeom prst="roundRect">
            <a:avLst/>
          </a:prstGeom>
          <a:solidFill>
            <a:srgbClr val="FBF4F4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1755648"/>
            <a:ext cx="3200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Without ontology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29718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02B3C"/>
                </a:solidFill>
                <a:latin typeface="Aptos"/>
              </a:defRPr>
            </a:pPr>
            <a:r>
              <a:rPr dirty="0"/>
              <a:t>Business meaning is fragmented across tables, reports, systems, and teams.</a:t>
            </a:r>
          </a:p>
          <a:p>
            <a:pPr>
              <a:spcAft>
                <a:spcPts val="800"/>
              </a:spcAft>
              <a:defRPr sz="1600">
                <a:solidFill>
                  <a:srgbClr val="202B3C"/>
                </a:solidFill>
                <a:latin typeface="Aptos"/>
              </a:defRPr>
            </a:pPr>
            <a:r>
              <a:rPr dirty="0"/>
              <a:t>The same concept can be defined differently in different places.</a:t>
            </a:r>
          </a:p>
          <a:p>
            <a:pPr>
              <a:spcAft>
                <a:spcPts val="800"/>
              </a:spcAft>
              <a:defRPr sz="1600">
                <a:solidFill>
                  <a:srgbClr val="202B3C"/>
                </a:solidFill>
                <a:latin typeface="Aptos"/>
              </a:defRPr>
            </a:pPr>
            <a:r>
              <a:rPr dirty="0"/>
              <a:t>AI must infer meaning from schemas, increasing ambiguity.</a:t>
            </a:r>
          </a:p>
          <a:p>
            <a:pPr>
              <a:spcAft>
                <a:spcPts val="800"/>
              </a:spcAft>
              <a:defRPr sz="1600">
                <a:solidFill>
                  <a:srgbClr val="202B3C"/>
                </a:solidFill>
                <a:latin typeface="Aptos"/>
              </a:defRPr>
            </a:pPr>
            <a:r>
              <a:rPr dirty="0"/>
              <a:t>Cross-domain reasoning is hard without explicit context.</a:t>
            </a:r>
          </a:p>
        </p:txBody>
      </p:sp>
      <p:sp>
        <p:nvSpPr>
          <p:cNvPr id="13" name="Chevron 12"/>
          <p:cNvSpPr/>
          <p:nvPr/>
        </p:nvSpPr>
        <p:spPr>
          <a:xfrm>
            <a:off x="4343400" y="2971800"/>
            <a:ext cx="1005840" cy="822960"/>
          </a:xfrm>
          <a:prstGeom prst="chevron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577840" y="1645920"/>
            <a:ext cx="5897880" cy="4206240"/>
          </a:xfrm>
          <a:prstGeom prst="roundRect">
            <a:avLst/>
          </a:prstGeom>
          <a:solidFill>
            <a:srgbClr val="F0FAF5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42432" y="1755648"/>
            <a:ext cx="5623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With ontology in Fabric 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103120"/>
            <a:ext cx="544068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rPr dirty="0"/>
              <a:t>Entity types, properties, and relationships create a machine-understandable model.</a:t>
            </a:r>
          </a:p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rPr dirty="0"/>
              <a:t>Bindings connect definitions to actual data in </a:t>
            </a:r>
            <a:r>
              <a:rPr dirty="0" err="1"/>
              <a:t>OneLake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rPr dirty="0"/>
              <a:t>Graph capabilities navigate connected meaning across domains.</a:t>
            </a:r>
          </a:p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rPr dirty="0"/>
              <a:t>Data and operations agents reason using the same governed context.</a:t>
            </a:r>
          </a:p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rPr dirty="0"/>
              <a:t>Result: more consistent analysis, stronger AI grounding, lower friction.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Ontology 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2A6"/>
                </a:solidFill>
                <a:latin typeface="Aptos"/>
              </a:rPr>
              <a:t>CORE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10" name="Oval 9"/>
          <p:cNvSpPr/>
          <p:nvPr/>
        </p:nvSpPr>
        <p:spPr>
          <a:xfrm>
            <a:off x="4937760" y="2240280"/>
            <a:ext cx="2057400" cy="2057400"/>
          </a:xfrm>
          <a:prstGeom prst="ellipse">
            <a:avLst/>
          </a:prstGeom>
          <a:solidFill>
            <a:srgbClr val="31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193792" y="2761488"/>
            <a:ext cx="15544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Ontology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1600200"/>
            <a:ext cx="324612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170992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Entity types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2148840"/>
            <a:ext cx="29718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Reusable business concepts such as Customer, Product, Store, Shipment, or Sensor.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886200" y="2313432"/>
            <a:ext cx="1051560" cy="960120"/>
          </a:xfrm>
          <a:prstGeom prst="line">
            <a:avLst/>
          </a:prstGeom>
          <a:ln w="25400">
            <a:solidFill>
              <a:srgbClr val="00A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4160520"/>
            <a:ext cx="324612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04672" y="427024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Properties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709160"/>
            <a:ext cx="29718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Facts attached to concepts, such as name, status, owner, amount, location, or risk score.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3886200" y="3584448"/>
            <a:ext cx="1051560" cy="1289304"/>
          </a:xfrm>
          <a:prstGeom prst="line">
            <a:avLst/>
          </a:prstGeom>
          <a:ln w="25400">
            <a:solidFill>
              <a:srgbClr val="00A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29600" y="1600200"/>
            <a:ext cx="324612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170992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148840"/>
            <a:ext cx="29718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How concepts connect—e.g. Customer places Order or Plant contains Sensor.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6995160" y="2313432"/>
            <a:ext cx="1234440" cy="960120"/>
          </a:xfrm>
          <a:prstGeom prst="line">
            <a:avLst/>
          </a:prstGeom>
          <a:ln w="25400">
            <a:solidFill>
              <a:srgbClr val="00A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29600" y="4160520"/>
            <a:ext cx="3246120" cy="14173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427024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Constraints, rules, and bindings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4192" y="4709160"/>
            <a:ext cx="2971800" cy="758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Governed definitions plus links to real data sources for concept-level queries.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3584448"/>
            <a:ext cx="1234440" cy="1289304"/>
          </a:xfrm>
          <a:prstGeom prst="line">
            <a:avLst/>
          </a:prstGeom>
          <a:ln w="25400">
            <a:solidFill>
              <a:srgbClr val="00A2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Where ontology fits in Fabric 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2A6"/>
                </a:solidFill>
                <a:latin typeface="Aptos"/>
              </a:rPr>
              <a:t>ARCHITECTURE AT A GLANCE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983480"/>
            <a:ext cx="10515600" cy="731520"/>
          </a:xfrm>
          <a:prstGeom prst="round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5184648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Microsoft Fabric platform: Copilot  •  OneLake  •  Governance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1920240"/>
            <a:ext cx="10332720" cy="246888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43000" y="2084831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>
                <a:solidFill>
                  <a:srgbClr val="0E1F38"/>
                </a:solidFill>
                <a:latin typeface="Aptos"/>
              </a:rPr>
              <a:t>IQ workload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2743200"/>
            <a:ext cx="12984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91640" y="2880360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07592" y="3337560"/>
            <a:ext cx="1143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1F38"/>
                </a:solidFill>
                <a:latin typeface="Aptos"/>
              </a:rPr>
              <a:t>Semantic
Models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16352" y="2743200"/>
            <a:ext cx="12984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3273552" y="2880360"/>
            <a:ext cx="384048" cy="384048"/>
          </a:xfrm>
          <a:prstGeom prst="ellipse">
            <a:avLst/>
          </a:prstGeom>
          <a:solidFill>
            <a:srgbClr val="31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89504" y="3337560"/>
            <a:ext cx="1143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1F38"/>
                </a:solidFill>
                <a:latin typeface="Aptos"/>
              </a:rPr>
              <a:t>Ontology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98264" y="2743200"/>
            <a:ext cx="12984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4855464" y="2880360"/>
            <a:ext cx="384048" cy="384048"/>
          </a:xfrm>
          <a:prstGeom prst="ellipse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71416" y="3337560"/>
            <a:ext cx="1143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1F38"/>
                </a:solidFill>
                <a:latin typeface="Aptos"/>
              </a:rPr>
              <a:t>Graph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0175" y="2743200"/>
            <a:ext cx="12984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37375" y="2880360"/>
            <a:ext cx="384048" cy="384048"/>
          </a:xfrm>
          <a:prstGeom prst="ellipse">
            <a:avLst/>
          </a:prstGeom>
          <a:solidFill>
            <a:srgbClr val="FF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53327" y="3337560"/>
            <a:ext cx="1143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1F38"/>
                </a:solidFill>
                <a:latin typeface="Aptos"/>
              </a:rPr>
              <a:t>Plan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2743200"/>
            <a:ext cx="12984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019288" y="2880360"/>
            <a:ext cx="384048" cy="384048"/>
          </a:xfrm>
          <a:prstGeom prst="ellipse">
            <a:avLst/>
          </a:prstGeom>
          <a:solidFill>
            <a:srgbClr val="92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35240" y="3337560"/>
            <a:ext cx="1143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1F38"/>
                </a:solidFill>
                <a:latin typeface="Aptos"/>
              </a:rPr>
              <a:t>Data
Agent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2743200"/>
            <a:ext cx="1298448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601200" y="2880360"/>
            <a:ext cx="384048" cy="38404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217152" y="3337560"/>
            <a:ext cx="11430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0E1F38"/>
                </a:solidFill>
                <a:latin typeface="Aptos"/>
              </a:rPr>
              <a:t>Operations
Agent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960120"/>
            <a:ext cx="2971800" cy="640080"/>
          </a:xfrm>
          <a:prstGeom prst="roundRect">
            <a:avLst/>
          </a:prstGeom>
          <a:solidFill>
            <a:srgbClr val="31BF7E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94039" y="631427"/>
            <a:ext cx="2697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E1F38"/>
                </a:solidFill>
                <a:latin typeface="Aptos"/>
              </a:rPr>
              <a:t>Key 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19872" y="958088"/>
            <a:ext cx="26060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dirty="0">
                <a:solidFill>
                  <a:srgbClr val="FFFFFF"/>
                </a:solidFill>
                <a:latin typeface="Aptos"/>
              </a:rPr>
              <a:t>Ontology is the semantic backbone that links insights, agents, and actions.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Business value unlocked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2A6"/>
                </a:solidFill>
                <a:latin typeface="Aptos"/>
              </a:rPr>
              <a:t>BENEFITS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65960"/>
            <a:ext cx="470916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2075688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Consistent cross-domain decisions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14600"/>
            <a:ext cx="4434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A single business vocabulary reduces interpretation gaps across functions, geographies, and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965960"/>
            <a:ext cx="470916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45352" y="2075688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Trustworthy AI experiences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5352" y="2514600"/>
            <a:ext cx="4434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AI and agents answer questions using shared definitions and relationships instead of guessing from raw schemas.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840480"/>
            <a:ext cx="470916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950208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Faster navigation and root-cause reasoning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389120"/>
            <a:ext cx="4434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Graph-backed connected context helps expose dependencies, patterns, and multi-hop relationships more quickly.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80760" y="3840480"/>
            <a:ext cx="4709160" cy="13716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45352" y="3950208"/>
            <a:ext cx="4434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dirty="0">
                <a:solidFill>
                  <a:srgbClr val="0E1F38"/>
                </a:solidFill>
                <a:latin typeface="Aptos"/>
              </a:rPr>
              <a:t>Better alignment between analytics and operations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4389120"/>
            <a:ext cx="443484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dirty="0">
                <a:solidFill>
                  <a:srgbClr val="202B3C"/>
                </a:solidFill>
                <a:latin typeface="Aptos"/>
              </a:rPr>
              <a:t>Ontology extends semantic meaning beyond BI into business processes and real-time operational scenarios.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From semantics to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2A6"/>
                </a:solidFill>
                <a:latin typeface="Aptos"/>
              </a:rPr>
              <a:t>HOW ONTOLOGY CONNECTS THE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581912" y="2542032"/>
            <a:ext cx="530352" cy="530352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43698" y="3055451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E1F38"/>
                </a:solidFill>
                <a:latin typeface="Aptos"/>
              </a:rPr>
              <a:t>Existing semantic models
and </a:t>
            </a:r>
            <a:r>
              <a:rPr sz="1500" b="1" dirty="0" err="1">
                <a:solidFill>
                  <a:srgbClr val="0E1F38"/>
                </a:solidFill>
                <a:latin typeface="Aptos"/>
              </a:rPr>
              <a:t>OneLake</a:t>
            </a:r>
            <a:r>
              <a:rPr sz="1500" b="1" dirty="0">
                <a:solidFill>
                  <a:srgbClr val="0E1F38"/>
                </a:solidFill>
                <a:latin typeface="Aptos"/>
              </a:rPr>
              <a:t> data</a:t>
            </a:r>
          </a:p>
        </p:txBody>
      </p:sp>
      <p:sp>
        <p:nvSpPr>
          <p:cNvPr id="13" name="Chevron 12"/>
          <p:cNvSpPr/>
          <p:nvPr/>
        </p:nvSpPr>
        <p:spPr>
          <a:xfrm>
            <a:off x="3063240" y="2926080"/>
            <a:ext cx="329184" cy="384048"/>
          </a:xfrm>
          <a:prstGeom prst="chevron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566160" y="242316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16552" y="2542032"/>
            <a:ext cx="530352" cy="530352"/>
          </a:xfrm>
          <a:prstGeom prst="ellipse">
            <a:avLst/>
          </a:prstGeom>
          <a:solidFill>
            <a:srgbClr val="31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01196" y="2922863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E1F38"/>
                </a:solidFill>
                <a:latin typeface="Aptos"/>
              </a:rPr>
              <a:t>Ontology defines business
concepts and relationships</a:t>
            </a:r>
          </a:p>
        </p:txBody>
      </p:sp>
      <p:sp>
        <p:nvSpPr>
          <p:cNvPr id="17" name="Chevron 16"/>
          <p:cNvSpPr/>
          <p:nvPr/>
        </p:nvSpPr>
        <p:spPr>
          <a:xfrm>
            <a:off x="5897880" y="2926080"/>
            <a:ext cx="329184" cy="384048"/>
          </a:xfrm>
          <a:prstGeom prst="chevron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400800" y="2423160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7251192" y="2542032"/>
            <a:ext cx="530352" cy="530352"/>
          </a:xfrm>
          <a:prstGeom prst="ellipse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017520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E1F38"/>
                </a:solidFill>
                <a:latin typeface="Aptos"/>
              </a:rPr>
              <a:t>Graph navigates connected
context at scale</a:t>
            </a:r>
          </a:p>
        </p:txBody>
      </p:sp>
      <p:sp>
        <p:nvSpPr>
          <p:cNvPr id="21" name="Chevron 20"/>
          <p:cNvSpPr/>
          <p:nvPr/>
        </p:nvSpPr>
        <p:spPr>
          <a:xfrm>
            <a:off x="8732520" y="2926080"/>
            <a:ext cx="329184" cy="384048"/>
          </a:xfrm>
          <a:prstGeom prst="chevron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9268307" y="2466717"/>
            <a:ext cx="2240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0085832" y="2542032"/>
            <a:ext cx="530352" cy="530352"/>
          </a:xfrm>
          <a:prstGeom prst="ellipse">
            <a:avLst/>
          </a:prstGeom>
          <a:solidFill>
            <a:srgbClr val="92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41180" y="3017520"/>
            <a:ext cx="187451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 dirty="0">
                <a:solidFill>
                  <a:srgbClr val="0E1F38"/>
                </a:solidFill>
                <a:latin typeface="Aptos"/>
              </a:rPr>
              <a:t>Data / operations agents
reason and 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572000"/>
            <a:ext cx="10149840" cy="822960"/>
          </a:xfrm>
          <a:prstGeom prst="round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88720" y="4709160"/>
            <a:ext cx="9692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Bottom line:  </a:t>
            </a:r>
            <a:r>
              <a:rPr sz="1600" b="0">
                <a:solidFill>
                  <a:srgbClr val="FFFFFF"/>
                </a:solidFill>
                <a:latin typeface="Aptos"/>
              </a:rPr>
              <a:t>Fabric IQ turns semantic knowledge into a reusable enterprise capability—so the same business context can serve analysis, conversational Q&amp;A, graph exploration, planning, and operations.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Suggested usage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625" y="1385316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rgbClr val="00A2A6"/>
                </a:solidFill>
                <a:latin typeface="Aptos"/>
              </a:rPr>
              <a:t>GETTING STARTED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10" name="Oval 9"/>
          <p:cNvSpPr/>
          <p:nvPr/>
        </p:nvSpPr>
        <p:spPr>
          <a:xfrm>
            <a:off x="1581912" y="1600200"/>
            <a:ext cx="502920" cy="502920"/>
          </a:xfrm>
          <a:prstGeom prst="ellipse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2194560"/>
            <a:ext cx="2468880" cy="2057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23042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1F38"/>
                </a:solidFill>
                <a:latin typeface="Aptos"/>
              </a:rPr>
              <a:t>1. Start with one
high-value domain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743200"/>
            <a:ext cx="219456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Choose a business area with clear pain around fragmented definitions or cross-functional decisions.</a:t>
            </a:r>
          </a:p>
        </p:txBody>
      </p:sp>
      <p:sp>
        <p:nvSpPr>
          <p:cNvPr id="14" name="Chevron 13"/>
          <p:cNvSpPr/>
          <p:nvPr/>
        </p:nvSpPr>
        <p:spPr>
          <a:xfrm>
            <a:off x="3273552" y="2971800"/>
            <a:ext cx="228600" cy="320040"/>
          </a:xfrm>
          <a:prstGeom prst="chevron">
            <a:avLst/>
          </a:prstGeom>
          <a:solidFill>
            <a:srgbClr val="62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4439412" y="1600200"/>
            <a:ext cx="502920" cy="502920"/>
          </a:xfrm>
          <a:prstGeom prst="ellipse">
            <a:avLst/>
          </a:prstGeom>
          <a:solidFill>
            <a:srgbClr val="31B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589020" y="2194560"/>
            <a:ext cx="2468880" cy="2057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753612" y="23042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1F38"/>
                </a:solidFill>
                <a:latin typeface="Aptos"/>
              </a:rPr>
              <a:t>2. Define the
shared vocabulary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3612" y="2743200"/>
            <a:ext cx="219456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Model a small set of critical entities, relationships, metrics, and rules that teams recognize.</a:t>
            </a:r>
          </a:p>
        </p:txBody>
      </p:sp>
      <p:sp>
        <p:nvSpPr>
          <p:cNvPr id="19" name="Chevron 18"/>
          <p:cNvSpPr/>
          <p:nvPr/>
        </p:nvSpPr>
        <p:spPr>
          <a:xfrm>
            <a:off x="6131052" y="2971800"/>
            <a:ext cx="228600" cy="320040"/>
          </a:xfrm>
          <a:prstGeom prst="chevron">
            <a:avLst/>
          </a:prstGeom>
          <a:solidFill>
            <a:srgbClr val="62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296912" y="1600200"/>
            <a:ext cx="502920" cy="502920"/>
          </a:xfrm>
          <a:prstGeom prst="ellipse">
            <a:avLst/>
          </a:prstGeom>
          <a:solidFill>
            <a:srgbClr val="00A2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446520" y="2194560"/>
            <a:ext cx="2468880" cy="2057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11112" y="23042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1F38"/>
                </a:solidFill>
                <a:latin typeface="Aptos"/>
              </a:rPr>
              <a:t>3. Bind to live data
and validate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2743200"/>
            <a:ext cx="219456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Connect the model to governed data sources and verify that concept-level questions work.</a:t>
            </a:r>
          </a:p>
        </p:txBody>
      </p:sp>
      <p:sp>
        <p:nvSpPr>
          <p:cNvPr id="24" name="Chevron 23"/>
          <p:cNvSpPr/>
          <p:nvPr/>
        </p:nvSpPr>
        <p:spPr>
          <a:xfrm>
            <a:off x="8988552" y="2971800"/>
            <a:ext cx="228600" cy="320040"/>
          </a:xfrm>
          <a:prstGeom prst="chevron">
            <a:avLst/>
          </a:prstGeom>
          <a:solidFill>
            <a:srgbClr val="626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0154412" y="1600200"/>
            <a:ext cx="502920" cy="502920"/>
          </a:xfrm>
          <a:prstGeom prst="ellipse">
            <a:avLst/>
          </a:prstGeom>
          <a:solidFill>
            <a:srgbClr val="92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304020" y="2194560"/>
            <a:ext cx="2468880" cy="2057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68612" y="2304288"/>
            <a:ext cx="2194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E1F38"/>
                </a:solidFill>
                <a:latin typeface="Aptos"/>
              </a:rPr>
              <a:t>4. Extend to
agentic scenarios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8612" y="2743200"/>
            <a:ext cx="2194560" cy="1399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202B3C"/>
                </a:solidFill>
                <a:latin typeface="Aptos"/>
              </a:rPr>
              <a:t>Use the ontology to improve natural-language experiences, reasoning, and workflows.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E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Hexagon 3"/>
          <p:cNvSpPr/>
          <p:nvPr/>
        </p:nvSpPr>
        <p:spPr>
          <a:xfrm rot="1320000">
            <a:off x="10698480" y="5303520"/>
            <a:ext cx="1097280" cy="1097280"/>
          </a:xfrm>
          <a:prstGeom prst="hexagon">
            <a:avLst/>
          </a:prstGeom>
          <a:solidFill>
            <a:srgbClr val="925CFF"/>
          </a:solidFill>
          <a:ln>
            <a:solidFill>
              <a:srgbClr val="92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Hexagon 4"/>
          <p:cNvSpPr/>
          <p:nvPr/>
        </p:nvSpPr>
        <p:spPr>
          <a:xfrm rot="1320000">
            <a:off x="9966960" y="5029200"/>
            <a:ext cx="822960" cy="822960"/>
          </a:xfrm>
          <a:prstGeom prst="hexagon">
            <a:avLst/>
          </a:prstGeom>
          <a:solidFill>
            <a:srgbClr val="00A2A6"/>
          </a:solidFill>
          <a:ln>
            <a:solidFill>
              <a:srgbClr val="00A2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Hexagon 5"/>
          <p:cNvSpPr/>
          <p:nvPr/>
        </p:nvSpPr>
        <p:spPr>
          <a:xfrm rot="1320000">
            <a:off x="10332720" y="4480560"/>
            <a:ext cx="868680" cy="868680"/>
          </a:xfrm>
          <a:prstGeom prst="hexagon">
            <a:avLst/>
          </a:prstGeom>
          <a:solidFill>
            <a:srgbClr val="31BF7E"/>
          </a:solidFill>
          <a:ln>
            <a:solidFill>
              <a:srgbClr val="31BF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0E1F38"/>
                </a:solidFill>
                <a:latin typeface="Aptos Display"/>
              </a:rPr>
              <a:t>Key considerations and source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00A2A6"/>
                </a:solidFill>
                <a:latin typeface="Aptos"/>
              </a:rPr>
              <a:t>PREVIEW STATUS + REFERENCES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26E82"/>
                </a:solidFill>
                <a:latin typeface="Aptos"/>
              </a:rPr>
              <a:t>Microsoft Fabric | Ontology Overview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828800"/>
            <a:ext cx="4754880" cy="32004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6112" y="1938528"/>
            <a:ext cx="4480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What to keep in mind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331720"/>
            <a:ext cx="434340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t>Ontology and broader Fabric IQ capabilities are in preview.</a:t>
            </a:r>
          </a:p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t>The value proposition relies on governance and a shared business model.</a:t>
            </a:r>
          </a:p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t>Strongest early wins come from clarifying meaning where ambiguity is costly.</a:t>
            </a:r>
          </a:p>
          <a:p>
            <a:pPr>
              <a:spcAft>
                <a:spcPts val="800"/>
              </a:spcAft>
              <a:defRPr sz="1700">
                <a:solidFill>
                  <a:srgbClr val="202B3C"/>
                </a:solidFill>
                <a:latin typeface="Aptos"/>
              </a:defRPr>
            </a:pPr>
            <a:r>
              <a:t>Organizational alignment matters because semantic work crosses boundaries.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52160" y="1828800"/>
            <a:ext cx="5394960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7ED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16752" y="1938528"/>
            <a:ext cx="5120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E1F38"/>
                </a:solidFill>
                <a:latin typeface="Aptos"/>
              </a:rPr>
              <a:t>Primary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331720"/>
            <a:ext cx="489204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0078D4"/>
                </a:solidFill>
                <a:latin typeface="Aptos"/>
                <a:hlinkClick r:id="rId2"/>
              </a:rPr>
              <a:t>Microsoft Learn: What is ontology (preview)?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26E82"/>
                </a:solidFill>
                <a:latin typeface="Aptos"/>
                <a:hlinkClick r:id="rId2"/>
              </a:rPr>
              <a:t>https://learn.microsoft.com/en-us/fabric/iq/ontology/overview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78D4"/>
                </a:solidFill>
                <a:latin typeface="Aptos"/>
                <a:hlinkClick r:id="rId3"/>
              </a:rPr>
              <a:t>Microsoft Learn: What is Fabric IQ (preview)?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26E82"/>
                </a:solidFill>
                <a:latin typeface="Aptos"/>
                <a:hlinkClick r:id="rId3"/>
              </a:rPr>
              <a:t>https://learn.microsoft.com/en-us/fabric/iq/overview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0078D4"/>
                </a:solidFill>
                <a:latin typeface="Aptos"/>
                <a:hlinkClick r:id="rId4"/>
              </a:rPr>
              <a:t>Microsoft Learn: Fabric IQ documentation</a:t>
            </a:r>
          </a:p>
          <a:p>
            <a:pPr>
              <a:spcAft>
                <a:spcPts val="800"/>
              </a:spcAft>
            </a:pPr>
            <a:r>
              <a:rPr sz="1100">
                <a:solidFill>
                  <a:srgbClr val="626E82"/>
                </a:solidFill>
                <a:latin typeface="Aptos"/>
                <a:hlinkClick r:id="rId4"/>
              </a:rPr>
              <a:t>https://learn.microsoft.com/en-us/fabric/iq/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194077054</TotalTime>
  <Words>853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Shakti Singh</cp:lastModifiedBy>
  <cp:revision>5</cp:revision>
  <dcterms:created xsi:type="dcterms:W3CDTF">2013-01-27T09:14:16Z</dcterms:created>
  <dcterms:modified xsi:type="dcterms:W3CDTF">2026-06-13T16:41:52Z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fbde396-1a24-4c79-8edf-9254a0f35055_SiteId">
    <vt:lpwstr>72f988bf-86f1-41af-91ab-2d7cd011db47</vt:lpwstr>
  </property>
  <property fmtid="{D5CDD505-2E9C-101B-9397-08002B2CF9AE}" pid="3" name="MSIP_Label_9fbde396-1a24-4c79-8edf-9254a0f35055_SetDate">
    <vt:lpwstr>2026-05-28T16:40:09Z</vt:lpwstr>
  </property>
  <property fmtid="{D5CDD505-2E9C-101B-9397-08002B2CF9AE}" pid="4" name="MSIP_Label_9fbde396-1a24-4c79-8edf-9254a0f35055_Name">
    <vt:lpwstr>Microsoft All Employees_1</vt:lpwstr>
  </property>
  <property fmtid="{D5CDD505-2E9C-101B-9397-08002B2CF9AE}" pid="5" name="MSIP_Label_9fbde396-1a24-4c79-8edf-9254a0f35055_Method">
    <vt:lpwstr>Standard</vt:lpwstr>
  </property>
  <property fmtid="{D5CDD505-2E9C-101B-9397-08002B2CF9AE}" pid="6" name="MSIP_Label_9fbde396-1a24-4c79-8edf-9254a0f35055_Enabled">
    <vt:lpwstr>true</vt:lpwstr>
  </property>
  <property fmtid="{D5CDD505-2E9C-101B-9397-08002B2CF9AE}" pid="7" name="MSIP_Label_9fbde396-1a24-4c79-8edf-9254a0f35055_ContentBits">
    <vt:lpwstr>8</vt:lpwstr>
  </property>
</Properties>
</file>